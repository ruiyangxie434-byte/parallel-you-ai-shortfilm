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90094d3194181" /><Relationship Type="http://schemas.openxmlformats.org/officeDocument/2006/relationships/extended-properties" Target="/docProps/app.xml" Id="Rc4af5934baad4d22" /><Relationship Type="http://schemas.openxmlformats.org/officeDocument/2006/relationships/officeDocument" Target="/ppt/presentation.xml" Id="R00e9596fce6d4b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8c334061a46b4"/>
  </p:sldMasterIdLst>
  <p:notesMasterIdLst>
    <p:notesMasterId xmlns:r="http://schemas.openxmlformats.org/officeDocument/2006/relationships" r:id="R0673c3cdb34f4f24"/>
  </p:notesMasterIdLst>
  <p:sldIdLst>
    <p:sldId xmlns:r="http://schemas.openxmlformats.org/officeDocument/2006/relationships" id="256" r:id="R8879c07a047945ef"/>
    <p:sldId xmlns:r="http://schemas.openxmlformats.org/officeDocument/2006/relationships" id="257" r:id="Re1254d81b9f34afa"/>
    <p:sldId xmlns:r="http://schemas.openxmlformats.org/officeDocument/2006/relationships" id="258" r:id="Rc4a69dd1cd554b59"/>
    <p:sldId xmlns:r="http://schemas.openxmlformats.org/officeDocument/2006/relationships" id="259" r:id="Re2a6ce9afbed4bef"/>
    <p:sldId xmlns:r="http://schemas.openxmlformats.org/officeDocument/2006/relationships" id="260" r:id="R3724cc46b85a40af"/>
    <p:sldId xmlns:r="http://schemas.openxmlformats.org/officeDocument/2006/relationships" id="261" r:id="Rd92bb47dbabc4563"/>
    <p:sldId xmlns:r="http://schemas.openxmlformats.org/officeDocument/2006/relationships" id="262" r:id="Rcc3a2158126542c3"/>
    <p:sldId xmlns:r="http://schemas.openxmlformats.org/officeDocument/2006/relationships" id="263" r:id="Rf15c7319812240d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0e12b09fe241fc" /><Relationship Type="http://schemas.openxmlformats.org/officeDocument/2006/relationships/slideMaster" Target="/ppt/slideMasters/slideMaster1.xml" Id="R8828c334061a46b4" /><Relationship Type="http://schemas.openxmlformats.org/officeDocument/2006/relationships/notesMaster" Target="/ppt/notesMasters/notesMaster1.xml" Id="R0673c3cdb34f4f24" /><Relationship Type="http://schemas.openxmlformats.org/officeDocument/2006/relationships/presProps" Target="/ppt/presProps.xml" Id="R06ad970850434287" /><Relationship Type="http://schemas.openxmlformats.org/officeDocument/2006/relationships/viewProps" Target="/ppt/viewProps.xml" Id="Rb6d8c1931bcf4f8e" /><Relationship Type="http://schemas.openxmlformats.org/officeDocument/2006/relationships/tableStyles" Target="/ppt/tableStyles.xml" Id="Ra40af9a528e44d50" /><Relationship Type="http://schemas.openxmlformats.org/officeDocument/2006/relationships/slide" Target="/ppt/slides/slide1.xml" Id="R8879c07a047945ef" /><Relationship Type="http://schemas.openxmlformats.org/officeDocument/2006/relationships/slide" Target="/ppt/slides/slide2.xml" Id="Re1254d81b9f34afa" /><Relationship Type="http://schemas.openxmlformats.org/officeDocument/2006/relationships/slide" Target="/ppt/slides/slide3.xml" Id="Rc4a69dd1cd554b59" /><Relationship Type="http://schemas.openxmlformats.org/officeDocument/2006/relationships/slide" Target="/ppt/slides/slide4.xml" Id="Re2a6ce9afbed4bef" /><Relationship Type="http://schemas.openxmlformats.org/officeDocument/2006/relationships/slide" Target="/ppt/slides/slide5.xml" Id="R3724cc46b85a40af" /><Relationship Type="http://schemas.openxmlformats.org/officeDocument/2006/relationships/slide" Target="/ppt/slides/slide6.xml" Id="Rd92bb47dbabc4563" /><Relationship Type="http://schemas.openxmlformats.org/officeDocument/2006/relationships/slide" Target="/ppt/slides/slide7.xml" Id="Rcc3a2158126542c3" /><Relationship Type="http://schemas.openxmlformats.org/officeDocument/2006/relationships/slide" Target="/ppt/slides/slide8.xml" Id="Rf15c7319812240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d840c881fd4f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5b07fc867448ea" /><Relationship Type="http://schemas.openxmlformats.org/officeDocument/2006/relationships/notesMaster" Target="/ppt/notesMasters/notesMaster1.xml" Id="R27ed5ebc6f0046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11c1493f8241f6" /><Relationship Type="http://schemas.openxmlformats.org/officeDocument/2006/relationships/notesMaster" Target="/ppt/notesMasters/notesMaster1.xml" Id="Re771b6c9f97041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1808c9660d4feb" /><Relationship Type="http://schemas.openxmlformats.org/officeDocument/2006/relationships/notesMaster" Target="/ppt/notesMasters/notesMaster1.xml" Id="R74964c313fff46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7fcc03a106473b" /><Relationship Type="http://schemas.openxmlformats.org/officeDocument/2006/relationships/notesMaster" Target="/ppt/notesMasters/notesMaster1.xml" Id="Re93f25cd99f643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72a6b18734e87" /><Relationship Type="http://schemas.openxmlformats.org/officeDocument/2006/relationships/notesMaster" Target="/ppt/notesMasters/notesMaster1.xml" Id="R1293d43e98974e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c53842c0524fdd" /><Relationship Type="http://schemas.openxmlformats.org/officeDocument/2006/relationships/notesMaster" Target="/ppt/notesMasters/notesMaster1.xml" Id="R20823496438b4f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03168505ad476c" /><Relationship Type="http://schemas.openxmlformats.org/officeDocument/2006/relationships/notesMaster" Target="/ppt/notesMasters/notesMaster1.xml" Id="R112b2ded4d4841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048ec5dfe24f91" /><Relationship Type="http://schemas.openxmlformats.org/officeDocument/2006/relationships/notesMaster" Target="/ppt/notesMasters/notesMaster1.xml" Id="Rc92694ea94a7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两分钟版</a:t>
            </a:r>
          </a:p>
          <a:p xmlns:a="http://schemas.openxmlformats.org/drawingml/2006/main">
            <a:r>
              <a:t>各位老师、同学好，我们是四个古风小生。AI短剧《平行时空的你》，讲的是同一个人在两个平行世界里的大学四年。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三分钟版</a:t>
            </a:r>
          </a:p>
          <a:p xmlns:a="http://schemas.openxmlformats.org/drawingml/2006/main">
            <a:r>
              <a:t>各位老师、同学，大家好。我们是四个古风小生，带来的AI短剧叫《平行时空的你》。我们把同一个人的大学四年，放进两个平行世界，想让观众看见，那些每天都在做的小决定，会怎样慢慢改变一个人。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现场提示：站稳后开口 看向观众 说完翻到P2。讲述时间不含约3分05秒的成片播放。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素材来源：团队原PPT、剧本、已确认工具分工与用户提供的完整版MP4。面试问句为剧本叙事线索；真实截图见图片替代文字中的时间码。</a:t>
            </a:r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两分钟版</a:t>
            </a:r>
          </a:p>
          <a:p xmlns:a="http://schemas.openxmlformats.org/drawingml/2006/main">
            <a:r>
              <a:t>“请讲一个你亲手完成的项目。”这道问题串起两种人生。成片从面试切入，再回到四年前，追问相同起点怎样变成不同的积累。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三分钟版</a:t>
            </a:r>
          </a:p>
          <a:p xmlns:a="http://schemas.openxmlformats.org/drawingml/2006/main">
            <a:r>
              <a:t>“请讲一个你亲手完成的项目。”我们用这道面试问题串起两种大学人生。成片先把同一张脸放到面试桌前，再回到四年前的大学寝室。观众可以带着一个疑问往下看：为什么相同的起点，最后会变成不同的简历和不同的底气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现场提示：问句后停一秒 最后一句看向观众。讲述时间不含约3分05秒的成片播放。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素材来源：团队原PPT、剧本、已确认工具分工与用户提供的完整版MP4。面试问句为剧本叙事线索；真实截图见图片替代文字中的时间码。</a:t>
            </a:r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两分钟版</a:t>
            </a:r>
          </a:p>
          <a:p xmlns:a="http://schemas.openxmlformats.org/drawingml/2006/main">
            <a:r>
              <a:t>511也想改变，513也会失败。他们的差别，体现在受挫之后的行动。两个编号相加等于1024，也呼应比赛主题。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三分钟版</a:t>
            </a:r>
          </a:p>
          <a:p xmlns:a="http://schemas.openxmlformats.org/drawingml/2006/main">
            <a:r>
              <a:t>511也会焦虑，也想改变，只是一次次把开始往后推。513也会失败，会犹豫，但他愿意问别人，再试一次。我们希望这两个人，都能让观众找到自己的影子。511加513恰好等于1024，也让人物编号与比赛主题形成呼应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现场提示：指向左右人物 编号分别读作五一一和五一三。讲述时间不含约3分05秒的成片播放。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素材来源：团队原PPT、剧本、已确认工具分工与用户提供的完整版MP4。面试问句为剧本叙事线索；真实截图见图片替代文字中的时间码。</a:t>
            </a:r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两分钟版</a:t>
            </a:r>
          </a:p>
          <a:p xmlns:a="http://schemas.openxmlformats.org/drawingml/2006/main">
            <a:r>
              <a:t>从寝室和课堂，到补考、落选和深夜的书桌，日常选择慢慢留下痕迹。我们把四年的差别，落在最后的面试和简历上。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三分钟版</a:t>
            </a:r>
          </a:p>
          <a:p xmlns:a="http://schemas.openxmlformats.org/drawingml/2006/main">
            <a:r>
              <a:t>成片把四年压缩进寝室、教室、书桌和面试。手机上的消遣、课堂上的笔记、深夜电脑前的尝试，逐渐累积成两种状态。我们还安排了补考和落选，让两个人都遇到挫折。观众因此能够比较，受挫后的不同反应，怎样继续影响他们的轨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现场提示：视线沿时间线移动 不必逐条念节点。讲述时间不含约3分05秒的成片播放。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素材来源：团队原PPT、剧本、已确认工具分工与用户提供的完整版MP4。面试问句为剧本叙事线索；真实截图见图片替代文字中的时间码。</a:t>
            </a:r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两分钟版</a:t>
            </a:r>
            <a:endParaRPr/>
          </a:p>
          <a:p xmlns:a="http://schemas.openxmlformats.org/drawingml/2006/main">
            <a:r>
              <a:t>剧本用校园空教室查询工具承载成长。成片以学习和项目资料推进，在两人擦肩后回到面试特写，呼应开头的疑问。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三分钟版</a:t>
            </a:r>
            <a:endParaRPr/>
          </a:p>
          <a:p xmlns:a="http://schemas.openxmlformats.org/drawingml/2006/main">
            <a:r>
              <a:t>剧本以校园空教室查询工具作为成长载体，成片则把重点落在学习、受挫和书桌前的行动上。结尾，两人在走廊擦肩，画面再回到面试和简历特写。我们希望这份简历能够承载四年的重量，让开头留下的疑问，在结尾有一次回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现场提示：强调剧中项目 沿三格画面说明前后呼应。讲述时间不含约3分05秒的成片播放。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素材来源：团队原PPT、剧本、已确认工具分工与用户提供的完整版MP4。面试问句为剧本叙事线索；真实截图见图片替代文字中的时间码。</a:t>
            </a:r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归档说明：正式作品名为《平行时空的你》，公开版成片约3分05秒；路演中的剧本设计与素材版本以实际成片为准。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d65b3887e45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9da6822e74f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fa62c13b948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96cf29bf348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f4ec94ca94e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7daf80fa749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2E8997-74BE-4426-847B-36D9CF754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802422-F16B-44C1-AEEB-C94192E30F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2DF587-AFD3-492B-9304-226172162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50253C-0038-421F-B1A5-A8C2406E7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FE4152-8F0A-4AD0-BF37-FF3FC13634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2DBF45-799A-4F29-8FC0-89758E141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1B672D-8F9C-4A8A-821D-554273D464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04A305-4163-470B-A2E6-6EACF1AC45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C3D721-35D6-48F3-8AD2-06C06DE41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F9C819-FDB8-49A5-9C66-1CFFBE7B42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a26edb82a348d4" /><Relationship Type="http://schemas.openxmlformats.org/officeDocument/2006/relationships/slideLayout" Target="/ppt/slideLayouts/slideLayout1.xml" Id="Rdea51ee34a284d0b" /><Relationship Type="http://schemas.openxmlformats.org/officeDocument/2006/relationships/slideLayout" Target="/ppt/slideLayouts/slideLayout2.xml" Id="R3943d9643a2a4b41" /><Relationship Type="http://schemas.openxmlformats.org/officeDocument/2006/relationships/slideLayout" Target="/ppt/slideLayouts/slideLayout3.xml" Id="R003bfde5e1e343f7" /><Relationship Type="http://schemas.openxmlformats.org/officeDocument/2006/relationships/slideLayout" Target="/ppt/slideLayouts/slideLayout4.xml" Id="Rfe0bb98920f54c48" /><Relationship Type="http://schemas.openxmlformats.org/officeDocument/2006/relationships/slideLayout" Target="/ppt/slideLayouts/slideLayout5.xml" Id="Rfc33992badd94e58" /><Relationship Type="http://schemas.openxmlformats.org/officeDocument/2006/relationships/slideLayout" Target="/ppt/slideLayouts/slideLayout6.xml" Id="R072ac0300e9944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a51ee34a284d0b"/>
    <p:sldLayoutId xmlns:r="http://schemas.openxmlformats.org/officeDocument/2006/relationships" id="2147483650" r:id="R3943d9643a2a4b41"/>
    <p:sldLayoutId xmlns:r="http://schemas.openxmlformats.org/officeDocument/2006/relationships" id="2147483651" r:id="R003bfde5e1e343f7"/>
    <p:sldLayoutId xmlns:r="http://schemas.openxmlformats.org/officeDocument/2006/relationships" id="2147483652" r:id="Rfe0bb98920f54c48"/>
    <p:sldLayoutId xmlns:r="http://schemas.openxmlformats.org/officeDocument/2006/relationships" id="2147483653" r:id="Rfc33992badd94e58"/>
    <p:sldLayoutId xmlns:r="http://schemas.openxmlformats.org/officeDocument/2006/relationships" id="2147483654" r:id="R072ac0300e9944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9c68e8285477b" /><Relationship Type="http://schemas.openxmlformats.org/officeDocument/2006/relationships/image" Target="/ppt/media/image.png" Id="R59e1ee304e0b41b4" /><Relationship Type="http://schemas.openxmlformats.org/officeDocument/2006/relationships/image" Target="/ppt/media/image2.png" Id="R8da36298d4b74abe" /><Relationship Type="http://schemas.openxmlformats.org/officeDocument/2006/relationships/notesSlide" Target="/ppt/notesSlides/notesSlide1.xml" Id="R9b1bf41434d543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9b0cd292a4869" /><Relationship Type="http://schemas.openxmlformats.org/officeDocument/2006/relationships/image" Target="/ppt/media/image3.png" Id="R18c820c6ca234beb" /><Relationship Type="http://schemas.openxmlformats.org/officeDocument/2006/relationships/image" Target="/ppt/media/image4.png" Id="R09a94fa4f9344937" /><Relationship Type="http://schemas.openxmlformats.org/officeDocument/2006/relationships/notesSlide" Target="/ppt/notesSlides/notesSlide2.xml" Id="Rbd3606e8fa2340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1e3c4721142b5" /><Relationship Type="http://schemas.openxmlformats.org/officeDocument/2006/relationships/image" Target="/ppt/media/image5.png" Id="R968bfa9464fd4443" /><Relationship Type="http://schemas.openxmlformats.org/officeDocument/2006/relationships/image" Target="/ppt/media/image6.png" Id="R4d7ec3ee8fde427c" /><Relationship Type="http://schemas.openxmlformats.org/officeDocument/2006/relationships/notesSlide" Target="/ppt/notesSlides/notesSlide3.xml" Id="R665ba4542fa3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b80cbbd614ee6" /><Relationship Type="http://schemas.openxmlformats.org/officeDocument/2006/relationships/notesSlide" Target="/ppt/notesSlides/notesSlide4.xml" Id="Rc14825f781ba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2faed554745f2" /><Relationship Type="http://schemas.openxmlformats.org/officeDocument/2006/relationships/image" Target="/ppt/media/image3.png" Id="R0702e690abda4ddb" /><Relationship Type="http://schemas.openxmlformats.org/officeDocument/2006/relationships/image" Target="/ppt/media/image7.png" Id="R99fe204323764af5" /><Relationship Type="http://schemas.openxmlformats.org/officeDocument/2006/relationships/image" Target="/ppt/media/image8.png" Id="R7664eb4e6f254f3c" /><Relationship Type="http://schemas.openxmlformats.org/officeDocument/2006/relationships/notesSlide" Target="/ppt/notesSlides/notesSlide5.xml" Id="R1442e39950414e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5f1bbe24c4a87" /><Relationship Type="http://schemas.openxmlformats.org/officeDocument/2006/relationships/notesSlide" Target="/ppt/notesSlides/notesSlide6.xml" Id="R2e636ffd80ea4c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77eba0cce4c18" /><Relationship Type="http://schemas.openxmlformats.org/officeDocument/2006/relationships/notesSlide" Target="/ppt/notesSlides/notesSlide7.xml" Id="Rf72da4353fbc48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eef93e9234913" /><Relationship Type="http://schemas.openxmlformats.org/officeDocument/2006/relationships/image" Target="/ppt/media/image9.png" Id="R78b051290c0e4e36" /><Relationship Type="http://schemas.openxmlformats.org/officeDocument/2006/relationships/notesSlide" Target="/ppt/notesSlides/notesSlide8.xml" Id="R8efca8ff55af44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E98F04DB-ADA7-4619-BA35-8ABECA1280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1ee304e0b41b4"/>
          <a:stretch xmlns:a="http://schemas.openxmlformats.org/drawingml/2006/main"/>
        </p:blipFill>
        <p:spPr>
          <a:xfrm xmlns:a="http://schemas.openxmlformats.org/drawingml/2006/main">
            <a:off x="419100" y="685800"/>
            <a:ext cx="3162300" cy="5524500"/>
          </a:xfrm>
          <a:prstGeom xmlns:a="http://schemas.openxmlformats.org/drawingml/2006/main" prst="rect">
            <a:avLst/>
          </a:prstGeom>
        </p:spPr>
      </p:pic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3FA58DC0-F481-4DF0-805A-B8DB6EA874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36298d4b74abe"/>
          <a:stretch xmlns:a="http://schemas.openxmlformats.org/drawingml/2006/main"/>
        </p:blipFill>
        <p:spPr>
          <a:xfrm xmlns:a="http://schemas.openxmlformats.org/drawingml/2006/main">
            <a:off x="8610600" y="685800"/>
            <a:ext cx="3162300" cy="5524500"/>
          </a:xfrm>
          <a:prstGeom xmlns:a="http://schemas.openxmlformats.org/drawingml/2006/main" prst="rect">
            <a:avLst/>
          </a:prstGeom>
        </p:spPr>
      </p:pic>
      <p:sp>
        <p:nvSpPr>
          <p:cNvPr id="4" name="genre">
            <a:extLst xmlns:a="http://schemas.openxmlformats.org/drawingml/2006/main">
              <a:ext uri="{FF2B5EF4-FFF2-40B4-BE49-F238E27FC236}">
                <a16:creationId xmlns:a16="http://schemas.microsoft.com/office/drawing/2014/main" id="{F93B0783-3DC3-4CA2-8765-D027C908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23900"/>
            <a:ext cx="4495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2026 WaytoAGI 1024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AI短剧作品路演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6FFC465-6ABB-437A-8A35-7CF1D24D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33575"/>
            <a:ext cx="44958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defPPr>
            <a:lvl1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1pPr>
            <a:lvl2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2pPr>
            <a:lvl3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3pPr>
            <a:lvl4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4pPr>
            <a:lvl5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5pPr>
            <a:lvl6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6pPr>
            <a:lvl7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7pPr>
            <a:lvl8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8pPr>
            <a:lvl9pPr algn="ctr"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buNone/>
              <a:defRPr sz="9900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pPr>
            <a:r>
              <a:rPr sz="6000"/>
              <a:t>平行时空的你</a:t>
            </a:r>
            <a:endParaRPr sz="6000" b="1">
              <a:solidFill>
                <a:srgbClr val="F2EEE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C08EC58-DFB7-4277-A256-447DA375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4495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同一个人</a:t>
            </a:r>
            <a:r>
              <a: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 xmlns:a="http://schemas.openxmlformats.org/drawingml/2006/main">
            <a:pPr algn="ctr">
              <a:buNone/>
              <a:def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两种大学人生</a:t>
            </a:r>
            <a:endParaRPr sz="2475" b="0">
              <a:solidFill>
                <a:srgbClr val="F2EEE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am">
            <a:extLst xmlns:a="http://schemas.openxmlformats.org/drawingml/2006/main">
              <a:ext uri="{FF2B5EF4-FFF2-40B4-BE49-F238E27FC236}">
                <a16:creationId xmlns:a16="http://schemas.microsoft.com/office/drawing/2014/main" id="{E03BBEC8-D10F-427B-AE8D-20E55ED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19725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四个古风小生</a:t>
            </a:r>
          </a:p>
        </p:txBody>
      </p:sp>
      <p:sp>
        <p:nvSpPr>
          <p:cNvPr id="8" name="511">
            <a:extLst xmlns:a="http://schemas.openxmlformats.org/drawingml/2006/main">
              <a:ext uri="{FF2B5EF4-FFF2-40B4-BE49-F238E27FC236}">
                <a16:creationId xmlns:a16="http://schemas.microsoft.com/office/drawing/2014/main" id="{EEA461FC-EC95-4B1A-9A88-DFD82F87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436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511</a:t>
            </a:r>
          </a:p>
        </p:txBody>
      </p:sp>
      <p:sp>
        <p:nvSpPr>
          <p:cNvPr id="9" name="513">
            <a:extLst xmlns:a="http://schemas.openxmlformats.org/drawingml/2006/main">
              <a:ext uri="{FF2B5EF4-FFF2-40B4-BE49-F238E27FC236}">
                <a16:creationId xmlns:a16="http://schemas.microsoft.com/office/drawing/2014/main" id="{8A400C6B-EB10-4DA7-9F88-DB56CA68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436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513</a:t>
            </a:r>
          </a:p>
        </p:txBody>
      </p:sp>
    </p:spTree>
    <p:extLst>
      <p:ext uri="{BB962C8B-B14F-4D97-AF65-F5344CB8AC3E}">
        <p14:creationId xmlns:p14="http://schemas.microsoft.com/office/powerpoint/2010/main" val="776985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B430E9-85D9-4631-A80E-DC6F724C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如果人生可以分成两条线</a:t>
            </a:r>
          </a:p>
        </p:txBody>
      </p:sp>
      <p:sp>
        <p:nvSpPr>
          <p:cNvPr id="3" name="interview-question">
            <a:extLst xmlns:a="http://schemas.openxmlformats.org/drawingml/2006/main">
              <a:ext uri="{FF2B5EF4-FFF2-40B4-BE49-F238E27FC236}">
                <a16:creationId xmlns:a16="http://schemas.microsoft.com/office/drawing/2014/main" id="{3C4EF5F1-D418-48C2-A20F-DA9F04FE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“请讲一个你亲手完成的项目。”</a:t>
            </a:r>
          </a:p>
        </p:txBody>
      </p:sp>
      <p:sp>
        <p:nvSpPr>
          <p:cNvPr id="4" name="511-silence">
            <a:extLst xmlns:a="http://schemas.openxmlformats.org/drawingml/2006/main">
              <a:ext uri="{FF2B5EF4-FFF2-40B4-BE49-F238E27FC236}">
                <a16:creationId xmlns:a16="http://schemas.microsoft.com/office/drawing/2014/main" id="{21D13842-1358-49DE-A4D6-FC87F617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511  面对项目经历</a:t>
            </a:r>
          </a:p>
        </p:txBody>
      </p:sp>
      <p:sp>
        <p:nvSpPr>
          <p:cNvPr id="5" name="513-records">
            <a:extLst xmlns:a="http://schemas.openxmlformats.org/drawingml/2006/main">
              <a:ext uri="{FF2B5EF4-FFF2-40B4-BE49-F238E27FC236}">
                <a16:creationId xmlns:a16="http://schemas.microsoft.com/office/drawing/2014/main" id="{1CC7838F-0429-4F4D-9913-B1E292BB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513  展示项目资料</a:t>
            </a:r>
          </a:p>
        </p:txBody>
      </p:sp>
      <p:sp>
        <p:nvSpPr>
          <p:cNvPr id="6" name="hook">
            <a:extLst xmlns:a="http://schemas.openxmlformats.org/drawingml/2006/main">
              <a:ext uri="{FF2B5EF4-FFF2-40B4-BE49-F238E27FC236}">
                <a16:creationId xmlns:a16="http://schemas.microsoft.com/office/drawing/2014/main" id="{7E4A47DE-E4CF-4A9E-86ED-9822D622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为什么同一个人，会走向两个不同的结局？</a:t>
            </a: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4A082F05-4B7C-4983-B972-4A9E53C13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820c6ca234beb"/>
          <a:stretch xmlns:a="http://schemas.openxmlformats.org/drawingml/2006/main"/>
        </p:blipFill>
        <p:spPr>
          <a:xfrm xmlns:a="http://schemas.openxmlformats.org/drawingml/2006/main">
            <a:off x="609898" y="2219325"/>
            <a:ext cx="5181005" cy="2914650"/>
          </a:xfrm>
          <a:prstGeom xmlns:a="http://schemas.openxmlformats.org/drawingml/2006/main" prst="rect">
            <a:avLst/>
          </a:prstGeom>
        </p:spPr>
      </p:pic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9DB3FFE6-9951-4098-9BF7-F23AA04A18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94fa4f9344937"/>
          <a:stretch xmlns:a="http://schemas.openxmlformats.org/drawingml/2006/main"/>
        </p:blipFill>
        <p:spPr>
          <a:xfrm xmlns:a="http://schemas.openxmlformats.org/drawingml/2006/main">
            <a:off x="6401098" y="2219325"/>
            <a:ext cx="5181005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81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AB2987-101B-43F6-9271-E471C067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相同起点，不同选择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BF72A3F-5C6F-4A3C-9044-4B84A320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同一个人，在两个平行世界里的大学四年</a:t>
            </a: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C0EFDC56-0E90-4435-9100-E220AABEE4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bfa9464fd4443"/>
          <a:stretch xmlns:a="http://schemas.openxmlformats.org/drawingml/2006/main"/>
        </p:blipFill>
        <p:spPr>
          <a:xfrm xmlns:a="http://schemas.openxmlformats.org/drawingml/2006/main">
            <a:off x="1047750" y="1857375"/>
            <a:ext cx="3238500" cy="3476625"/>
          </a:xfrm>
          <a:prstGeom xmlns:a="http://schemas.openxmlformats.org/drawingml/2006/main" prst="rect">
            <a:avLst/>
          </a:prstGeom>
        </p:spPr>
      </p:pic>
      <p:pic>
        <p:nvPicPr>
          <p:cNvPr id="5" name="图片 4">
            <a:extLst xmlns:a="http://schemas.openxmlformats.org/drawingml/2006/main">
              <a:ext uri="{FF2B5EF4-FFF2-40B4-BE49-F238E27FC236}">
                <a16:creationId xmlns:a16="http://schemas.microsoft.com/office/drawing/2014/main" id="{D644DE6F-A93C-4F1A-86E7-AFDB556BB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ec3ee8fde427c"/>
          <a:stretch xmlns:a="http://schemas.openxmlformats.org/drawingml/2006/main"/>
        </p:blipFill>
        <p:spPr>
          <a:xfrm xmlns:a="http://schemas.openxmlformats.org/drawingml/2006/main">
            <a:off x="7905750" y="1857375"/>
            <a:ext cx="323850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same-person">
            <a:extLst xmlns:a="http://schemas.openxmlformats.org/drawingml/2006/main">
              <a:ext uri="{FF2B5EF4-FFF2-40B4-BE49-F238E27FC236}">
                <a16:creationId xmlns:a16="http://schemas.microsoft.com/office/drawing/2014/main" id="{678B53AB-A784-468D-B122-AAECA601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28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同一张脸</a:t>
            </a:r>
          </a:p>
        </p:txBody>
      </p:sp>
      <p:sp>
        <p:nvSpPr>
          <p:cNvPr id="7" name="number-line">
            <a:extLst xmlns:a="http://schemas.openxmlformats.org/drawingml/2006/main">
              <a:ext uri="{FF2B5EF4-FFF2-40B4-BE49-F238E27FC236}">
                <a16:creationId xmlns:a16="http://schemas.microsoft.com/office/drawing/2014/main" id="{293C5AB2-7E34-4BA6-AE7C-DF7EDEAD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90900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511＋513</a:t>
            </a:r>
          </a:p>
        </p:txBody>
      </p:sp>
      <p:sp>
        <p:nvSpPr>
          <p:cNvPr id="8" name="number-result">
            <a:extLst xmlns:a="http://schemas.openxmlformats.org/drawingml/2006/main">
              <a:ext uri="{FF2B5EF4-FFF2-40B4-BE49-F238E27FC236}">
                <a16:creationId xmlns:a16="http://schemas.microsoft.com/office/drawing/2014/main" id="{1E118866-0C62-4D0D-AA90-6FC99E09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09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＝1024</a:t>
            </a:r>
          </a:p>
        </p:txBody>
      </p:sp>
      <p:sp>
        <p:nvSpPr>
          <p:cNvPr id="9" name="511">
            <a:extLst xmlns:a="http://schemas.openxmlformats.org/drawingml/2006/main">
              <a:ext uri="{FF2B5EF4-FFF2-40B4-BE49-F238E27FC236}">
                <a16:creationId xmlns:a16="http://schemas.microsoft.com/office/drawing/2014/main" id="{082ACBFC-4AE5-4AA9-B6E6-7C0D6F9C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511</a:t>
            </a:r>
          </a:p>
        </p:txBody>
      </p:sp>
      <p:sp>
        <p:nvSpPr>
          <p:cNvPr id="10" name="511-action">
            <a:extLst xmlns:a="http://schemas.openxmlformats.org/drawingml/2006/main">
              <a:ext uri="{FF2B5EF4-FFF2-40B4-BE49-F238E27FC236}">
                <a16:creationId xmlns:a16="http://schemas.microsoft.com/office/drawing/2014/main" id="{E220F717-C696-4376-B955-03736A1B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483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不断推迟开始</a:t>
            </a:r>
          </a:p>
        </p:txBody>
      </p:sp>
      <p:sp>
        <p:nvSpPr>
          <p:cNvPr id="11" name="511-nuance">
            <a:extLst xmlns:a="http://schemas.openxmlformats.org/drawingml/2006/main">
              <a:ext uri="{FF2B5EF4-FFF2-40B4-BE49-F238E27FC236}">
                <a16:creationId xmlns:a16="http://schemas.microsoft.com/office/drawing/2014/main" id="{5921A672-96C5-4955-A48B-5ACE4258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也会焦虑，也想改变</a:t>
            </a:r>
          </a:p>
        </p:txBody>
      </p:sp>
      <p:sp>
        <p:nvSpPr>
          <p:cNvPr id="12" name="513">
            <a:extLst xmlns:a="http://schemas.openxmlformats.org/drawingml/2006/main">
              <a:ext uri="{FF2B5EF4-FFF2-40B4-BE49-F238E27FC236}">
                <a16:creationId xmlns:a16="http://schemas.microsoft.com/office/drawing/2014/main" id="{0A9944E3-7EEA-4EFB-A489-6F0B93AD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3402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513</a:t>
            </a:r>
          </a:p>
        </p:txBody>
      </p:sp>
      <p:sp>
        <p:nvSpPr>
          <p:cNvPr id="13" name="513-action">
            <a:extLst xmlns:a="http://schemas.openxmlformats.org/drawingml/2006/main">
              <a:ext uri="{FF2B5EF4-FFF2-40B4-BE49-F238E27FC236}">
                <a16:creationId xmlns:a16="http://schemas.microsoft.com/office/drawing/2014/main" id="{FD4055A5-139F-4035-B66E-36C7EA00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483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失败后继续尝试</a:t>
            </a:r>
          </a:p>
        </p:txBody>
      </p:sp>
      <p:sp>
        <p:nvSpPr>
          <p:cNvPr id="14" name="513-nuance">
            <a:extLst xmlns:a="http://schemas.openxmlformats.org/drawingml/2006/main">
              <a:ext uri="{FF2B5EF4-FFF2-40B4-BE49-F238E27FC236}">
                <a16:creationId xmlns:a16="http://schemas.microsoft.com/office/drawing/2014/main" id="{38EA2AF4-48F8-4F27-A3C4-06D11FC1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会失败，也愿意学习和求助</a:t>
            </a:r>
          </a:p>
        </p:txBody>
      </p:sp>
    </p:spTree>
    <p:extLst>
      <p:ext uri="{BB962C8B-B14F-4D97-AF65-F5344CB8AC3E}">
        <p14:creationId xmlns:p14="http://schemas.microsoft.com/office/powerpoint/2010/main" val="795478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B049FE-802C-4436-869A-3F09497C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四年如何改变一个人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12FE7C6-E8B1-49AD-9391-9AC16EC1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同一起点出发，差别在每天累积</a:t>
            </a:r>
          </a:p>
        </p:txBody>
      </p:sp>
      <p:sp>
        <p:nvSpPr>
          <p:cNvPr id="4" name="511大学轨迹">
            <a:extLst xmlns:a="http://schemas.openxmlformats.org/drawingml/2006/main">
              <a:ext uri="{FF2B5EF4-FFF2-40B4-BE49-F238E27FC236}">
                <a16:creationId xmlns:a16="http://schemas.microsoft.com/office/drawing/2014/main" id="{A6EE8CB9-5875-450E-B6DB-8B71222A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9334500" cy="3143250"/>
          </a:xfrm>
          <a:custGeom xmlns:a="http://schemas.openxmlformats.org/drawingml/2006/main">
            <a:rect l="0" t="0" r="0" b="0"/>
            <a:pathLst>
              <a:path w="9334500" h="3143250">
                <a:moveTo>
                  <a:pt x="0" y="1571625"/>
                </a:moveTo>
                <a:lnTo>
                  <a:pt x="1285875" y="809625"/>
                </a:lnTo>
                <a:lnTo>
                  <a:pt x="3381375" y="523875"/>
                </a:lnTo>
                <a:lnTo>
                  <a:pt x="5476875" y="238125"/>
                </a:lnTo>
                <a:lnTo>
                  <a:pt x="7572375" y="0"/>
                </a:lnTo>
                <a:lnTo>
                  <a:pt x="933450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7C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513大学轨迹">
            <a:extLst xmlns:a="http://schemas.openxmlformats.org/drawingml/2006/main">
              <a:ext uri="{FF2B5EF4-FFF2-40B4-BE49-F238E27FC236}">
                <a16:creationId xmlns:a16="http://schemas.microsoft.com/office/drawing/2014/main" id="{A16F511A-5E29-402F-9C30-41B7D000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9334500" cy="3143250"/>
          </a:xfrm>
          <a:custGeom xmlns:a="http://schemas.openxmlformats.org/drawingml/2006/main">
            <a:rect l="0" t="0" r="0" b="0"/>
            <a:pathLst>
              <a:path w="9334500" h="3143250">
                <a:moveTo>
                  <a:pt x="0" y="1571625"/>
                </a:moveTo>
                <a:lnTo>
                  <a:pt x="1285875" y="2333625"/>
                </a:lnTo>
                <a:lnTo>
                  <a:pt x="3381375" y="2619375"/>
                </a:lnTo>
                <a:lnTo>
                  <a:pt x="5476875" y="2905125"/>
                </a:lnTo>
                <a:lnTo>
                  <a:pt x="7572375" y="3143250"/>
                </a:lnTo>
                <a:lnTo>
                  <a:pt x="933450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DB4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共同起点">
            <a:extLst xmlns:a="http://schemas.openxmlformats.org/drawingml/2006/main">
              <a:ext uri="{FF2B5EF4-FFF2-40B4-BE49-F238E27FC236}">
                <a16:creationId xmlns:a16="http://schemas.microsoft.com/office/drawing/2014/main" id="{A641B71A-F8E3-403F-B562-87455E38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EE6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毕业面试">
            <a:extLst xmlns:a="http://schemas.openxmlformats.org/drawingml/2006/main">
              <a:ext uri="{FF2B5EF4-FFF2-40B4-BE49-F238E27FC236}">
                <a16:creationId xmlns:a16="http://schemas.microsoft.com/office/drawing/2014/main" id="{17DABA3C-3C4B-4831-BDEC-155FAF2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EE6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tart">
            <a:extLst xmlns:a="http://schemas.openxmlformats.org/drawingml/2006/main">
              <a:ext uri="{FF2B5EF4-FFF2-40B4-BE49-F238E27FC236}">
                <a16:creationId xmlns:a16="http://schemas.microsoft.com/office/drawing/2014/main" id="{085BB074-521B-419B-A15D-2903403F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71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相同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9" name="511">
            <a:extLst xmlns:a="http://schemas.openxmlformats.org/drawingml/2006/main">
              <a:ext uri="{FF2B5EF4-FFF2-40B4-BE49-F238E27FC236}">
                <a16:creationId xmlns:a16="http://schemas.microsoft.com/office/drawing/2014/main" id="{19ACB769-7B3F-467D-A3DD-7F695D1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511</a:t>
            </a:r>
          </a:p>
        </p:txBody>
      </p:sp>
      <p:sp>
        <p:nvSpPr>
          <p:cNvPr id="10" name="513">
            <a:extLst xmlns:a="http://schemas.openxmlformats.org/drawingml/2006/main">
              <a:ext uri="{FF2B5EF4-FFF2-40B4-BE49-F238E27FC236}">
                <a16:creationId xmlns:a16="http://schemas.microsoft.com/office/drawing/2014/main" id="{892D73D8-D09E-461E-AB36-E61262E1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513</a:t>
            </a:r>
          </a:p>
        </p:txBody>
      </p:sp>
      <p:sp>
        <p:nvSpPr>
          <p:cNvPr id="11" name="511-大一">
            <a:extLst xmlns:a="http://schemas.openxmlformats.org/drawingml/2006/main">
              <a:ext uri="{FF2B5EF4-FFF2-40B4-BE49-F238E27FC236}">
                <a16:creationId xmlns:a16="http://schemas.microsoft.com/office/drawing/2014/main" id="{A2B0025C-1D2C-4634-B05E-91C876E3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0D0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513-大一">
            <a:extLst xmlns:a="http://schemas.openxmlformats.org/drawingml/2006/main">
              <a:ext uri="{FF2B5EF4-FFF2-40B4-BE49-F238E27FC236}">
                <a16:creationId xmlns:a16="http://schemas.microsoft.com/office/drawing/2014/main" id="{10C6181F-81AD-4CC0-88DF-EA121530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48A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year-0">
            <a:extLst xmlns:a="http://schemas.openxmlformats.org/drawingml/2006/main">
              <a:ext uri="{FF2B5EF4-FFF2-40B4-BE49-F238E27FC236}">
                <a16:creationId xmlns:a16="http://schemas.microsoft.com/office/drawing/2014/main" id="{BE38B741-5C2C-4785-95F4-1131726E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6385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大一</a:t>
            </a:r>
          </a:p>
        </p:txBody>
      </p:sp>
      <p:sp>
        <p:nvSpPr>
          <p:cNvPr id="14" name="511-0">
            <a:extLst xmlns:a="http://schemas.openxmlformats.org/drawingml/2006/main">
              <a:ext uri="{FF2B5EF4-FFF2-40B4-BE49-F238E27FC236}">
                <a16:creationId xmlns:a16="http://schemas.microsoft.com/office/drawing/2014/main" id="{71361183-D87E-4DDE-B3B7-6D238EBB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90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推迟第一课</a:t>
            </a:r>
          </a:p>
        </p:txBody>
      </p:sp>
      <p:sp>
        <p:nvSpPr>
          <p:cNvPr id="15" name="513-0">
            <a:extLst xmlns:a="http://schemas.openxmlformats.org/drawingml/2006/main">
              <a:ext uri="{FF2B5EF4-FFF2-40B4-BE49-F238E27FC236}">
                <a16:creationId xmlns:a16="http://schemas.microsoft.com/office/drawing/2014/main" id="{E2F647BD-89ED-45E3-9EEB-4A88857E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625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学习与求助</a:t>
            </a:r>
          </a:p>
        </p:txBody>
      </p:sp>
      <p:sp>
        <p:nvSpPr>
          <p:cNvPr id="16" name="511-大二">
            <a:extLst xmlns:a="http://schemas.openxmlformats.org/drawingml/2006/main">
              <a:ext uri="{FF2B5EF4-FFF2-40B4-BE49-F238E27FC236}">
                <a16:creationId xmlns:a16="http://schemas.microsoft.com/office/drawing/2014/main" id="{0138380F-071D-4788-84C6-BB3AFB68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0D0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513-大二">
            <a:extLst xmlns:a="http://schemas.openxmlformats.org/drawingml/2006/main">
              <a:ext uri="{FF2B5EF4-FFF2-40B4-BE49-F238E27FC236}">
                <a16:creationId xmlns:a16="http://schemas.microsoft.com/office/drawing/2014/main" id="{BF151556-601D-432E-8945-D545BD1F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00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48A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year-1">
            <a:extLst xmlns:a="http://schemas.openxmlformats.org/drawingml/2006/main">
              <a:ext uri="{FF2B5EF4-FFF2-40B4-BE49-F238E27FC236}">
                <a16:creationId xmlns:a16="http://schemas.microsoft.com/office/drawing/2014/main" id="{B3F0E83E-9ADA-4EBB-8F8D-5B1CE7AC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385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大二</a:t>
            </a:r>
          </a:p>
        </p:txBody>
      </p:sp>
      <p:sp>
        <p:nvSpPr>
          <p:cNvPr id="19" name="511-1">
            <a:extLst xmlns:a="http://schemas.openxmlformats.org/drawingml/2006/main">
              <a:ext uri="{FF2B5EF4-FFF2-40B4-BE49-F238E27FC236}">
                <a16:creationId xmlns:a16="http://schemas.microsoft.com/office/drawing/2014/main" id="{3D43E1D9-B89B-402E-8786-F038A7B9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050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补考后回避</a:t>
            </a:r>
          </a:p>
        </p:txBody>
      </p:sp>
      <p:sp>
        <p:nvSpPr>
          <p:cNvPr id="20" name="513-1">
            <a:extLst xmlns:a="http://schemas.openxmlformats.org/drawingml/2006/main">
              <a:ext uri="{FF2B5EF4-FFF2-40B4-BE49-F238E27FC236}">
                <a16:creationId xmlns:a16="http://schemas.microsoft.com/office/drawing/2014/main" id="{FB3C77A5-3B07-4157-B954-472C371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048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落选后改进</a:t>
            </a:r>
          </a:p>
        </p:txBody>
      </p:sp>
      <p:sp>
        <p:nvSpPr>
          <p:cNvPr id="21" name="511-大三">
            <a:extLst xmlns:a="http://schemas.openxmlformats.org/drawingml/2006/main">
              <a:ext uri="{FF2B5EF4-FFF2-40B4-BE49-F238E27FC236}">
                <a16:creationId xmlns:a16="http://schemas.microsoft.com/office/drawing/2014/main" id="{30B49364-4DC8-456D-9631-435E516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0D0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513-大三">
            <a:extLst xmlns:a="http://schemas.openxmlformats.org/drawingml/2006/main">
              <a:ext uri="{FF2B5EF4-FFF2-40B4-BE49-F238E27FC236}">
                <a16:creationId xmlns:a16="http://schemas.microsoft.com/office/drawing/2014/main" id="{13EB6A36-4DE7-4797-A907-51C3651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48A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year-2">
            <a:extLst xmlns:a="http://schemas.openxmlformats.org/drawingml/2006/main">
              <a:ext uri="{FF2B5EF4-FFF2-40B4-BE49-F238E27FC236}">
                <a16:creationId xmlns:a16="http://schemas.microsoft.com/office/drawing/2014/main" id="{29E3F3D5-2247-4D2C-9BA0-378E7512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大三</a:t>
            </a:r>
          </a:p>
        </p:txBody>
      </p:sp>
      <p:sp>
        <p:nvSpPr>
          <p:cNvPr id="24" name="511-2">
            <a:extLst xmlns:a="http://schemas.openxmlformats.org/drawingml/2006/main">
              <a:ext uri="{FF2B5EF4-FFF2-40B4-BE49-F238E27FC236}">
                <a16:creationId xmlns:a16="http://schemas.microsoft.com/office/drawing/2014/main" id="{289613A4-E86E-401A-B465-DCB8090A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193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简历空白</a:t>
            </a:r>
          </a:p>
        </p:txBody>
      </p:sp>
      <p:sp>
        <p:nvSpPr>
          <p:cNvPr id="25" name="513-2">
            <a:extLst xmlns:a="http://schemas.openxmlformats.org/drawingml/2006/main">
              <a:ext uri="{FF2B5EF4-FFF2-40B4-BE49-F238E27FC236}">
                <a16:creationId xmlns:a16="http://schemas.microsoft.com/office/drawing/2014/main" id="{FB702744-1560-4720-A231-7C19C2E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3340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项目与实习</a:t>
            </a:r>
          </a:p>
        </p:txBody>
      </p:sp>
      <p:sp>
        <p:nvSpPr>
          <p:cNvPr id="26" name="511-大四">
            <a:extLst xmlns:a="http://schemas.openxmlformats.org/drawingml/2006/main">
              <a:ext uri="{FF2B5EF4-FFF2-40B4-BE49-F238E27FC236}">
                <a16:creationId xmlns:a16="http://schemas.microsoft.com/office/drawing/2014/main" id="{44CA6452-0CC9-43B1-98E4-36928AEC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0D0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513-大四">
            <a:extLst xmlns:a="http://schemas.openxmlformats.org/drawingml/2006/main">
              <a:ext uri="{FF2B5EF4-FFF2-40B4-BE49-F238E27FC236}">
                <a16:creationId xmlns:a16="http://schemas.microsoft.com/office/drawing/2014/main" id="{18AB8DBF-247B-4E7E-99A8-9C9C6E58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324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48A"/>
          </a:solidFill>
          <a:ln xmlns:a="http://schemas.openxmlformats.org/drawingml/2006/main" w="19050">
            <a:solidFill>
              <a:srgbClr val="0E141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year-3">
            <a:extLst xmlns:a="http://schemas.openxmlformats.org/drawingml/2006/main">
              <a:ext uri="{FF2B5EF4-FFF2-40B4-BE49-F238E27FC236}">
                <a16:creationId xmlns:a16="http://schemas.microsoft.com/office/drawing/2014/main" id="{89E0B10C-F23A-426F-BB9F-B253E80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6385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大四</a:t>
            </a:r>
          </a:p>
        </p:txBody>
      </p:sp>
      <p:sp>
        <p:nvSpPr>
          <p:cNvPr id="29" name="511-3">
            <a:extLst xmlns:a="http://schemas.openxmlformats.org/drawingml/2006/main">
              <a:ext uri="{FF2B5EF4-FFF2-40B4-BE49-F238E27FC236}">
                <a16:creationId xmlns:a16="http://schemas.microsoft.com/office/drawing/2014/main" id="{048D8923-7C82-40C0-8057-2EFF613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811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难以描述项目</a:t>
            </a:r>
          </a:p>
        </p:txBody>
      </p:sp>
      <p:sp>
        <p:nvSpPr>
          <p:cNvPr id="30" name="513-3">
            <a:extLst xmlns:a="http://schemas.openxmlformats.org/drawingml/2006/main">
              <a:ext uri="{FF2B5EF4-FFF2-40B4-BE49-F238E27FC236}">
                <a16:creationId xmlns:a16="http://schemas.microsoft.com/office/drawing/2014/main" id="{96BB0CF1-A50D-47DB-9A80-A863B1F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7212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展示自己的积累</a:t>
            </a:r>
          </a:p>
        </p:txBody>
      </p:sp>
      <p:sp>
        <p:nvSpPr>
          <p:cNvPr id="31" name="same-question">
            <a:extLst xmlns:a="http://schemas.openxmlformats.org/drawingml/2006/main">
              <a:ext uri="{FF2B5EF4-FFF2-40B4-BE49-F238E27FC236}">
                <a16:creationId xmlns:a16="http://schemas.microsoft.com/office/drawing/2014/main" id="{927CEC05-1DC9-41AF-A20C-A19B1DC8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1009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毕业面试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同一问题</a:t>
            </a:r>
          </a:p>
        </p:txBody>
      </p:sp>
      <p:sp>
        <p:nvSpPr>
          <p:cNvPr id="32" name="takeaway">
            <a:extLst xmlns:a="http://schemas.openxmlformats.org/drawingml/2006/main">
              <a:ext uri="{FF2B5EF4-FFF2-40B4-BE49-F238E27FC236}">
                <a16:creationId xmlns:a16="http://schemas.microsoft.com/office/drawing/2014/main" id="{8156E44D-986A-46B3-89E2-38F0079D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同一个问题，让四年的积累与空缺变得可见</a:t>
            </a:r>
          </a:p>
        </p:txBody>
      </p:sp>
    </p:spTree>
    <p:extLst>
      <p:ext uri="{BB962C8B-B14F-4D97-AF65-F5344CB8AC3E}">
        <p14:creationId xmlns:p14="http://schemas.microsoft.com/office/powerpoint/2010/main" val="2095361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C79663-D14C-436D-BB1A-A64C51E1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让故事形成闭环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F0D7FC-7651-44AB-B04D-A28D8DAD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从面试切入，在日常选择之后回到面试</a:t>
            </a:r>
          </a:p>
        </p:txBody>
      </p:sp>
      <p:sp>
        <p:nvSpPr>
          <p:cNvPr id="4" name="beat-0">
            <a:extLst xmlns:a="http://schemas.openxmlformats.org/drawingml/2006/main">
              <a:ext uri="{FF2B5EF4-FFF2-40B4-BE49-F238E27FC236}">
                <a16:creationId xmlns:a16="http://schemas.microsoft.com/office/drawing/2014/main" id="{789AA4BE-DFC7-401F-AC17-E36F5781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50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面试切入</a:t>
            </a:r>
          </a:p>
        </p:txBody>
      </p:sp>
      <p:sp>
        <p:nvSpPr>
          <p:cNvPr id="5" name="meaning-0">
            <a:extLst xmlns:a="http://schemas.openxmlformats.org/drawingml/2006/main">
              <a:ext uri="{FF2B5EF4-FFF2-40B4-BE49-F238E27FC236}">
                <a16:creationId xmlns:a16="http://schemas.microsoft.com/office/drawing/2014/main" id="{1BA93D77-6761-4CEA-840A-95DF4CD5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50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同一张脸，留下疑问</a:t>
            </a:r>
          </a:p>
        </p:txBody>
      </p:sp>
      <p:sp>
        <p:nvSpPr>
          <p:cNvPr id="6" name="beat-1">
            <a:extLst xmlns:a="http://schemas.openxmlformats.org/drawingml/2006/main">
              <a:ext uri="{FF2B5EF4-FFF2-40B4-BE49-F238E27FC236}">
                <a16:creationId xmlns:a16="http://schemas.microsoft.com/office/drawing/2014/main" id="{604C2BAB-1A8C-469A-ABBC-31EAD5C6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50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日常积累</a:t>
            </a:r>
          </a:p>
        </p:txBody>
      </p:sp>
      <p:sp>
        <p:nvSpPr>
          <p:cNvPr id="7" name="meaning-1">
            <a:extLst xmlns:a="http://schemas.openxmlformats.org/drawingml/2006/main">
              <a:ext uri="{FF2B5EF4-FFF2-40B4-BE49-F238E27FC236}">
                <a16:creationId xmlns:a16="http://schemas.microsoft.com/office/drawing/2014/main" id="{911ACC6C-7FBD-453A-AF2D-9020428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350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剧本中的成长项目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校园空教室查询工具</a:t>
            </a:r>
          </a:p>
        </p:txBody>
      </p:sp>
      <p:sp>
        <p:nvSpPr>
          <p:cNvPr id="8" name="beat-2">
            <a:extLst xmlns:a="http://schemas.openxmlformats.org/drawingml/2006/main">
              <a:ext uri="{FF2B5EF4-FFF2-40B4-BE49-F238E27FC236}">
                <a16:creationId xmlns:a16="http://schemas.microsoft.com/office/drawing/2014/main" id="{8127BD7D-952F-4155-9FD5-E3A7272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350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7C0D0"/>
                </a:solidFill>
                <a:latin typeface="Microsoft YaHei"/>
                <a:ea typeface="Microsoft YaHei"/>
                <a:cs typeface="Microsoft YaHei"/>
              </a:rPr>
              <a:t>面试回扣</a:t>
            </a:r>
          </a:p>
        </p:txBody>
      </p:sp>
      <p:sp>
        <p:nvSpPr>
          <p:cNvPr id="9" name="meaning-2">
            <a:extLst xmlns:a="http://schemas.openxmlformats.org/drawingml/2006/main">
              <a:ext uri="{FF2B5EF4-FFF2-40B4-BE49-F238E27FC236}">
                <a16:creationId xmlns:a16="http://schemas.microsoft.com/office/drawing/2014/main" id="{F0FC0CD0-68F7-412B-BBCB-E9219642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350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一份简历承载四年的选择</a:t>
            </a:r>
          </a:p>
        </p:txBody>
      </p:sp>
      <p:sp>
        <p:nvSpPr>
          <p:cNvPr id="10" name="ending-meaning">
            <a:extLst xmlns:a="http://schemas.openxmlformats.org/drawingml/2006/main">
              <a:ext uri="{FF2B5EF4-FFF2-40B4-BE49-F238E27FC236}">
                <a16:creationId xmlns:a16="http://schemas.microsoft.com/office/drawing/2014/main" id="{6D9B92AC-8B3D-42EE-A459-C2EFFB32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画面回到面试，把下一步留给观众</a:t>
            </a:r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0C22500E-693A-44CA-86F8-37DB3BCD9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2e690abda4ddb"/>
          <a:stretch xmlns:a="http://schemas.openxmlformats.org/drawingml/2006/main"/>
        </p:blipFill>
        <p:spPr>
          <a:xfrm xmlns:a="http://schemas.openxmlformats.org/drawingml/2006/main">
            <a:off x="609801" y="2247900"/>
            <a:ext cx="3504797" cy="1971675"/>
          </a:xfrm>
          <a:prstGeom xmlns:a="http://schemas.openxmlformats.org/drawingml/2006/main" prst="rect">
            <a:avLst/>
          </a:prstGeom>
        </p:spPr>
      </p:pic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D7ED437D-51CE-42A0-836C-6CF9694DF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e204323764af5"/>
          <a:stretch xmlns:a="http://schemas.openxmlformats.org/drawingml/2006/main"/>
        </p:blipFill>
        <p:spPr>
          <a:xfrm xmlns:a="http://schemas.openxmlformats.org/drawingml/2006/main">
            <a:off x="4343601" y="2247900"/>
            <a:ext cx="3504797" cy="1971675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DA37F0A7-3D81-4BBA-A2E3-918657ADE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4eb4e6f254f3c"/>
          <a:stretch xmlns:a="http://schemas.openxmlformats.org/drawingml/2006/main"/>
        </p:blipFill>
        <p:spPr>
          <a:xfrm xmlns:a="http://schemas.openxmlformats.org/drawingml/2006/main">
            <a:off x="8077401" y="2247900"/>
            <a:ext cx="3504797" cy="1971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87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6D2AD3-8A4B-49A2-ADD8-9DB94693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AI创作方法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1917378-442D-4C3E-9813-281F5D3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已确认的工具用途与连续性方案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53246929-B8D2-42F9-9B9E-66491364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故事构思</a:t>
            </a:r>
          </a:p>
        </p:txBody>
      </p:sp>
      <p:sp>
        <p:nvSpPr>
          <p:cNvPr id="5" name="tool-0">
            <a:extLst xmlns:a="http://schemas.openxmlformats.org/drawingml/2006/main">
              <a:ext uri="{FF2B5EF4-FFF2-40B4-BE49-F238E27FC236}">
                <a16:creationId xmlns:a16="http://schemas.microsoft.com/office/drawing/2014/main" id="{EC0C2B00-CA0C-4BA6-9CDB-776DF585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千问</a:t>
            </a:r>
          </a:p>
        </p:txBody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666C3CD3-DBE3-455B-AA5A-6E307702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文案与脚本</a:t>
            </a:r>
          </a:p>
        </p:txBody>
      </p:sp>
      <p:sp>
        <p:nvSpPr>
          <p:cNvPr id="7" name="流程方向">
            <a:extLst xmlns:a="http://schemas.openxmlformats.org/drawingml/2006/main">
              <a:ext uri="{FF2B5EF4-FFF2-40B4-BE49-F238E27FC236}">
                <a16:creationId xmlns:a16="http://schemas.microsoft.com/office/drawing/2014/main" id="{6DB10E66-6EC6-4A7D-8938-4A9F0B4E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00275"/>
            <a:ext cx="2667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C4C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1BAF14FB-AD68-4435-AFE5-26F26C1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人物设定</a:t>
            </a:r>
          </a:p>
        </p:txBody>
      </p:sp>
      <p:sp>
        <p:nvSpPr>
          <p:cNvPr id="9" name="tool-1">
            <a:extLst xmlns:a="http://schemas.openxmlformats.org/drawingml/2006/main">
              <a:ext uri="{FF2B5EF4-FFF2-40B4-BE49-F238E27FC236}">
                <a16:creationId xmlns:a16="http://schemas.microsoft.com/office/drawing/2014/main" id="{B207DB3B-32EA-4332-8E2B-FE5619C2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812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豆包</a:t>
            </a:r>
          </a:p>
        </p:txBody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C5F4145A-85D2-442D-83D8-31530AB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38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主人公样貌</a:t>
            </a:r>
          </a:p>
        </p:txBody>
      </p:sp>
      <p:sp>
        <p:nvSpPr>
          <p:cNvPr id="11" name="流程方向">
            <a:extLst xmlns:a="http://schemas.openxmlformats.org/drawingml/2006/main">
              <a:ext uri="{FF2B5EF4-FFF2-40B4-BE49-F238E27FC236}">
                <a16:creationId xmlns:a16="http://schemas.microsoft.com/office/drawing/2014/main" id="{5194A051-343C-49D8-B509-FB6F04C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00275"/>
            <a:ext cx="2667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C4C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C10E0DBD-6EAA-48BB-A8D1-DDB8996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478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分镜提示词</a:t>
            </a:r>
          </a:p>
        </p:txBody>
      </p:sp>
      <p:sp>
        <p:nvSpPr>
          <p:cNvPr id="13" name="tool-2">
            <a:extLst xmlns:a="http://schemas.openxmlformats.org/drawingml/2006/main">
              <a:ext uri="{FF2B5EF4-FFF2-40B4-BE49-F238E27FC236}">
                <a16:creationId xmlns:a16="http://schemas.microsoft.com/office/drawing/2014/main" id="{426EE9CF-4DB8-4A86-A6C5-4D8DD291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812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45634256-15E2-4649-A6BD-36E21099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38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提示词与说明</a:t>
            </a:r>
          </a:p>
        </p:txBody>
      </p:sp>
      <p:sp>
        <p:nvSpPr>
          <p:cNvPr id="15" name="流程方向">
            <a:extLst xmlns:a="http://schemas.openxmlformats.org/drawingml/2006/main">
              <a:ext uri="{FF2B5EF4-FFF2-40B4-BE49-F238E27FC236}">
                <a16:creationId xmlns:a16="http://schemas.microsoft.com/office/drawing/2014/main" id="{D878D804-FECA-4950-874B-44F3EBA6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0275"/>
            <a:ext cx="2667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C4C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DACEC64E-4FC5-4308-8019-8FA63AFD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478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影像制作</a:t>
            </a:r>
          </a:p>
        </p:txBody>
      </p:sp>
      <p:sp>
        <p:nvSpPr>
          <p:cNvPr id="17" name="tool-3">
            <a:extLst xmlns:a="http://schemas.openxmlformats.org/drawingml/2006/main">
              <a:ext uri="{FF2B5EF4-FFF2-40B4-BE49-F238E27FC236}">
                <a16:creationId xmlns:a16="http://schemas.microsoft.com/office/drawing/2014/main" id="{C756BE2B-45FE-46CF-BA8B-EB2B0EB9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812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18" name="role-3">
            <a:extLst xmlns:a="http://schemas.openxmlformats.org/drawingml/2006/main">
              <a:ext uri="{FF2B5EF4-FFF2-40B4-BE49-F238E27FC236}">
                <a16:creationId xmlns:a16="http://schemas.microsoft.com/office/drawing/2014/main" id="{99AAA868-1DD1-4EAB-9297-058CBCA5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视频生成</a:t>
            </a:r>
          </a:p>
        </p:txBody>
      </p:sp>
      <p:sp>
        <p:nvSpPr>
          <p:cNvPr id="19" name="流程方向">
            <a:extLst xmlns:a="http://schemas.openxmlformats.org/drawingml/2006/main">
              <a:ext uri="{FF2B5EF4-FFF2-40B4-BE49-F238E27FC236}">
                <a16:creationId xmlns:a16="http://schemas.microsoft.com/office/drawing/2014/main" id="{A9F25DD7-3CBB-42F3-A16C-DD82572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00275"/>
            <a:ext cx="2667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C4C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tage-4">
            <a:extLst xmlns:a="http://schemas.openxmlformats.org/drawingml/2006/main">
              <a:ext uri="{FF2B5EF4-FFF2-40B4-BE49-F238E27FC236}">
                <a16:creationId xmlns:a16="http://schemas.microsoft.com/office/drawing/2014/main" id="{A549920A-CDD0-4A1B-866C-2BB1B475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478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后期剪辑</a:t>
            </a:r>
          </a:p>
        </p:txBody>
      </p:sp>
      <p:sp>
        <p:nvSpPr>
          <p:cNvPr id="21" name="tool-4">
            <a:extLst xmlns:a="http://schemas.openxmlformats.org/drawingml/2006/main">
              <a:ext uri="{FF2B5EF4-FFF2-40B4-BE49-F238E27FC236}">
                <a16:creationId xmlns:a16="http://schemas.microsoft.com/office/drawing/2014/main" id="{202145F8-FAAF-4B0A-AC18-BBEA2C3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812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工具待补充</a:t>
            </a:r>
          </a:p>
        </p:txBody>
      </p:sp>
      <p:sp>
        <p:nvSpPr>
          <p:cNvPr id="22" name="role-4">
            <a:extLst xmlns:a="http://schemas.openxmlformats.org/drawingml/2006/main">
              <a:ext uri="{FF2B5EF4-FFF2-40B4-BE49-F238E27FC236}">
                <a16:creationId xmlns:a16="http://schemas.microsoft.com/office/drawing/2014/main" id="{AB451EF4-D6A1-4134-91E1-D47BDEB8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成片约3分05秒</a:t>
            </a:r>
          </a:p>
        </p:txBody>
      </p:sp>
      <p:sp>
        <p:nvSpPr>
          <p:cNvPr id="23" name="continuity-label">
            <a:extLst xmlns:a="http://schemas.openxmlformats.org/drawingml/2006/main">
              <a:ext uri="{FF2B5EF4-FFF2-40B4-BE49-F238E27FC236}">
                <a16:creationId xmlns:a16="http://schemas.microsoft.com/office/drawing/2014/main" id="{E800A36B-FB11-4ADD-AB73-0D9C6B86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创作难点</a:t>
            </a:r>
          </a:p>
        </p:txBody>
      </p:sp>
      <p:sp>
        <p:nvSpPr>
          <p:cNvPr id="24" name="continuity-status">
            <a:extLst xmlns:a="http://schemas.openxmlformats.org/drawingml/2006/main">
              <a:ext uri="{FF2B5EF4-FFF2-40B4-BE49-F238E27FC236}">
                <a16:creationId xmlns:a16="http://schemas.microsoft.com/office/drawing/2014/main" id="{807564B3-D379-4502-94AC-4811497E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解决思路  连续性检查方案</a:t>
            </a:r>
          </a:p>
        </p:txBody>
      </p:sp>
      <p:graphicFrame>
        <p:nvGraphicFramePr>
          <p:cNvPr id="25" name="表格 24">
            <a:extLst xmlns:a="http://schemas.openxmlformats.org/drawingml/2006/main">
              <a:ext uri="{FF2B5EF4-FFF2-40B4-BE49-F238E27FC236}">
                <a16:creationId xmlns:a16="http://schemas.microsoft.com/office/drawing/2014/main" id="{193D82F6-19AA-48F2-B88A-1CD12101CBDD}"/>
              </a:ext>
            </a:extLst>
          </p:cNvPr>
          <p:cNvGraphicFramePr/>
          <p:nvPr/>
        </p:nvGraphicFramePr>
        <p:xfrm>
          <a:off xmlns:a="http://schemas.openxmlformats.org/drawingml/2006/main" x="609600" y="4171950"/>
          <a:ext xmlns:a="http://schemas.openxmlformats.org/drawingml/2006/main" cx="109728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CDB4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人物一致性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3C4C59"/>
                      </a:solidFill>
                      <a:prstDash val="solid"/>
                    </a:lnL>
                    <a:lnR w="6191">
                      <a:solidFill>
                        <a:srgbClr val="3C4C59"/>
                      </a:solidFill>
                      <a:prstDash val="solid"/>
                    </a:lnR>
                    <a:lnT w="6191">
                      <a:solidFill>
                        <a:srgbClr val="3C4C59"/>
                      </a:solidFill>
                      <a:prstDash val="solid"/>
                    </a:lnT>
                    <a:lnB w="6191">
                      <a:solidFill>
                        <a:srgbClr val="3C4C59"/>
                      </a:solidFill>
                      <a:prstDash val="solid"/>
                    </a:lnB>
                    <a:solidFill>
                      <a:srgbClr val="0E14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F2EEE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共用角色参考图，按场次核对外观</a:t>
                      </a:r>
                    </a:p>
                  </a:txBody>
                  <a:tcPr marL="91440" marR="91440" marT="45720" marB="45720" anchor="ctr">
                    <a:lnL w="6191" cmpd="sng">
                      <a:solidFill>
                        <a:srgbClr val="3C4C59"/>
                      </a:solidFill>
                      <a:prstDash val="solid"/>
                    </a:lnL>
                    <a:lnR w="6191">
                      <a:solidFill>
                        <a:srgbClr val="3C4C59"/>
                      </a:solidFill>
                      <a:prstDash val="solid"/>
                    </a:lnR>
                    <a:lnT w="6191">
                      <a:solidFill>
                        <a:srgbClr val="3C4C59"/>
                      </a:solidFill>
                      <a:prstDash val="solid"/>
                    </a:lnT>
                    <a:lnB w="6191">
                      <a:solidFill>
                        <a:srgbClr val="3C4C59"/>
                      </a:solidFill>
                      <a:prstDash val="solid"/>
                    </a:lnB>
                    <a:solidFill>
                      <a:srgbClr val="0E141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CDB4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镜头衔接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3C4C59"/>
                      </a:solidFill>
                      <a:prstDash val="solid"/>
                    </a:lnL>
                    <a:lnR w="6191">
                      <a:solidFill>
                        <a:srgbClr val="3C4C59"/>
                      </a:solidFill>
                      <a:prstDash val="solid"/>
                    </a:lnR>
                    <a:lnT w="6191" cmpd="sng">
                      <a:solidFill>
                        <a:srgbClr val="3C4C59"/>
                      </a:solidFill>
                      <a:prstDash val="solid"/>
                    </a:lnT>
                    <a:lnB w="6191">
                      <a:solidFill>
                        <a:srgbClr val="3C4C59"/>
                      </a:solidFill>
                      <a:prstDash val="solid"/>
                    </a:lnB>
                    <a:solidFill>
                      <a:srgbClr val="0E14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F2EEE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按编号交接，检查景别、动作和时间线</a:t>
                      </a:r>
                    </a:p>
                  </a:txBody>
                  <a:tcPr marL="91440" marR="91440" marT="45720" marB="45720" anchor="ctr">
                    <a:lnL w="6191" cmpd="sng">
                      <a:solidFill>
                        <a:srgbClr val="3C4C59"/>
                      </a:solidFill>
                      <a:prstDash val="solid"/>
                    </a:lnL>
                    <a:lnR w="6191">
                      <a:solidFill>
                        <a:srgbClr val="3C4C59"/>
                      </a:solidFill>
                      <a:prstDash val="solid"/>
                    </a:lnR>
                    <a:lnT w="6191" cmpd="sng">
                      <a:solidFill>
                        <a:srgbClr val="3C4C59"/>
                      </a:solidFill>
                      <a:prstDash val="solid"/>
                    </a:lnT>
                    <a:lnB w="6191">
                      <a:solidFill>
                        <a:srgbClr val="3C4C59"/>
                      </a:solidFill>
                      <a:prstDash val="solid"/>
                    </a:lnB>
                    <a:solidFill>
                      <a:srgbClr val="0E141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CDB4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文字与道具</a:t>
                      </a:r>
                    </a:p>
                  </a:txBody>
                  <a:tcPr marL="91440" marR="91440" marT="45720" marB="45720" anchor="ctr">
                    <a:lnL w="6191">
                      <a:solidFill>
                        <a:srgbClr val="3C4C59"/>
                      </a:solidFill>
                      <a:prstDash val="solid"/>
                    </a:lnL>
                    <a:lnR w="6191">
                      <a:solidFill>
                        <a:srgbClr val="3C4C59"/>
                      </a:solidFill>
                      <a:prstDash val="solid"/>
                    </a:lnR>
                    <a:lnT w="6191" cmpd="sng">
                      <a:solidFill>
                        <a:srgbClr val="3C4C59"/>
                      </a:solidFill>
                      <a:prstDash val="solid"/>
                    </a:lnT>
                    <a:lnB w="6191">
                      <a:solidFill>
                        <a:srgbClr val="3C4C59"/>
                      </a:solidFill>
                      <a:prstDash val="solid"/>
                    </a:lnB>
                    <a:solidFill>
                      <a:srgbClr val="0E14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F2EEE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课程、简历与项目资料统一制作</a:t>
                      </a:r>
                    </a:p>
                  </a:txBody>
                  <a:tcPr marL="91440" marR="91440" marT="45720" marB="45720" anchor="ctr">
                    <a:lnL w="6191" cmpd="sng">
                      <a:solidFill>
                        <a:srgbClr val="3C4C59"/>
                      </a:solidFill>
                      <a:prstDash val="solid"/>
                    </a:lnL>
                    <a:lnR w="6191">
                      <a:solidFill>
                        <a:srgbClr val="3C4C59"/>
                      </a:solidFill>
                      <a:prstDash val="solid"/>
                    </a:lnR>
                    <a:lnT w="6191" cmpd="sng">
                      <a:solidFill>
                        <a:srgbClr val="3C4C59"/>
                      </a:solidFill>
                      <a:prstDash val="solid"/>
                    </a:lnT>
                    <a:lnB w="6191">
                      <a:solidFill>
                        <a:srgbClr val="3C4C59"/>
                      </a:solidFill>
                      <a:prstDash val="solid"/>
                    </a:lnB>
                    <a:solidFill>
                      <a:srgbClr val="0E1419"/>
                    </a:solidFill>
                  </a:tcPr>
                </a:tc>
              </a:tr>
            </a:tbl>
          </a:graphicData>
        </a:graphic>
      </p:graphicFrame>
      <p:sp>
        <p:nvSpPr>
          <p:cNvPr id="26" name="human-judgement">
            <a:extLst xmlns:a="http://schemas.openxmlformats.org/drawingml/2006/main">
              <a:ext uri="{FF2B5EF4-FFF2-40B4-BE49-F238E27FC236}">
                <a16:creationId xmlns:a16="http://schemas.microsoft.com/office/drawing/2014/main" id="{1FE453E1-8DD7-46BC-BF19-85192FCD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AI参与内容与素材制作，团队负责叙事判断与艺术取舍</a:t>
            </a:r>
          </a:p>
        </p:txBody>
      </p:sp>
    </p:spTree>
    <p:extLst>
      <p:ext uri="{BB962C8B-B14F-4D97-AF65-F5344CB8AC3E}">
        <p14:creationId xmlns:p14="http://schemas.microsoft.com/office/powerpoint/2010/main" val="1830951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0D1C59-BCC8-4DD6-8A5A-ADC72546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四个人完成一个故事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B0398E8-E35F-444C-A68B-80D383DB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同一份叙事标准，支持按场次分工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8774FBE9-9834-4087-8F48-3F50F377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14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F0FC26D-D0AB-44CE-AD69-A27D9850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位成员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29E61B23-8030-494A-89A3-14CE3B4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314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FB07E8E-EFA9-4565-A3E2-E8940473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24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场故事</a:t>
            </a:r>
          </a:p>
        </p:txBody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BCC0CB9C-FED6-4B08-BB13-D0116E79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14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D4952BDC-B4FD-49F2-8BEC-F3C0C98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24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条镜头提示词</a:t>
            </a:r>
          </a:p>
        </p:txBody>
      </p:sp>
      <p:sp>
        <p:nvSpPr>
          <p:cNvPr id="10" name="collaboration">
            <a:extLst xmlns:a="http://schemas.openxmlformats.org/drawingml/2006/main">
              <a:ext uri="{FF2B5EF4-FFF2-40B4-BE49-F238E27FC236}">
                <a16:creationId xmlns:a16="http://schemas.microsoft.com/office/drawing/2014/main" id="{892D94B0-05CA-4BA0-B0AF-A125F9FB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协作约定</a:t>
            </a:r>
          </a:p>
        </p:txBody>
      </p:sp>
      <p:sp>
        <p:nvSpPr>
          <p:cNvPr id="11" name="step-0">
            <a:extLst xmlns:a="http://schemas.openxmlformats.org/drawingml/2006/main">
              <a:ext uri="{FF2B5EF4-FFF2-40B4-BE49-F238E27FC236}">
                <a16:creationId xmlns:a16="http://schemas.microsoft.com/office/drawing/2014/main" id="{3B3A2255-113C-4F3E-9BA5-06D6AE0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共用资料</a:t>
            </a:r>
          </a:p>
        </p:txBody>
      </p:sp>
      <p:sp>
        <p:nvSpPr>
          <p:cNvPr id="12" name="detail-0">
            <a:extLst xmlns:a="http://schemas.openxmlformats.org/drawingml/2006/main">
              <a:ext uri="{FF2B5EF4-FFF2-40B4-BE49-F238E27FC236}">
                <a16:creationId xmlns:a16="http://schemas.microsoft.com/office/drawing/2014/main" id="{CB236A43-BDA3-46A6-BE53-418978E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31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人物、场景与项目道具</a:t>
            </a:r>
          </a:p>
        </p:txBody>
      </p:sp>
      <p:sp>
        <p:nvSpPr>
          <p:cNvPr id="13" name="流程方向">
            <a:extLst xmlns:a="http://schemas.openxmlformats.org/drawingml/2006/main">
              <a:ext uri="{FF2B5EF4-FFF2-40B4-BE49-F238E27FC236}">
                <a16:creationId xmlns:a16="http://schemas.microsoft.com/office/drawing/2014/main" id="{ACE3ED7C-D172-49F7-9E9D-56966DE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24350"/>
            <a:ext cx="3143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C4C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ep-1">
            <a:extLst xmlns:a="http://schemas.openxmlformats.org/drawingml/2006/main">
              <a:ext uri="{FF2B5EF4-FFF2-40B4-BE49-F238E27FC236}">
                <a16:creationId xmlns:a16="http://schemas.microsoft.com/office/drawing/2014/main" id="{56B6241B-1ADC-4DF0-B2C6-DE32F56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624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每人两场</a:t>
            </a:r>
          </a:p>
        </p:txBody>
      </p:sp>
      <p:sp>
        <p:nvSpPr>
          <p:cNvPr id="15" name="detail-1">
            <a:extLst xmlns:a="http://schemas.openxmlformats.org/drawingml/2006/main">
              <a:ext uri="{FF2B5EF4-FFF2-40B4-BE49-F238E27FC236}">
                <a16:creationId xmlns:a16="http://schemas.microsoft.com/office/drawing/2014/main" id="{92939841-5ACD-47E5-A0EB-A9669001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331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按镜头编号生成与交接</a:t>
            </a:r>
          </a:p>
        </p:txBody>
      </p:sp>
      <p:sp>
        <p:nvSpPr>
          <p:cNvPr id="16" name="流程方向">
            <a:extLst xmlns:a="http://schemas.openxmlformats.org/drawingml/2006/main">
              <a:ext uri="{FF2B5EF4-FFF2-40B4-BE49-F238E27FC236}">
                <a16:creationId xmlns:a16="http://schemas.microsoft.com/office/drawing/2014/main" id="{A10B8572-CCA4-4AE6-8FD7-5EFAE925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24350"/>
            <a:ext cx="3143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C4C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53BA5986-E18E-4A6E-9484-487FC1F9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624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统一整合</a:t>
            </a:r>
          </a:p>
        </p:txBody>
      </p:sp>
      <p:sp>
        <p:nvSpPr>
          <p:cNvPr id="18" name="detail-2">
            <a:extLst xmlns:a="http://schemas.openxmlformats.org/drawingml/2006/main">
              <a:ext uri="{FF2B5EF4-FFF2-40B4-BE49-F238E27FC236}">
                <a16:creationId xmlns:a16="http://schemas.microsoft.com/office/drawing/2014/main" id="{F4AF9F7E-0548-4C38-B1FE-B4237F57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62500"/>
            <a:ext cx="331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核对文字与剪辑风格</a:t>
            </a:r>
          </a:p>
        </p:txBody>
      </p:sp>
      <p:sp>
        <p:nvSpPr>
          <p:cNvPr id="19" name="credits">
            <a:extLst xmlns:a="http://schemas.openxmlformats.org/drawingml/2006/main">
              <a:ext uri="{FF2B5EF4-FFF2-40B4-BE49-F238E27FC236}">
                <a16:creationId xmlns:a16="http://schemas.microsoft.com/office/drawing/2014/main" id="{1ED7225D-5BBD-4443-BCA8-D6D1AFE5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yangqi（队长）    Ryan    小</a:t>
            </a:r>
            <a:r>
              <a:rPr sz="1875">
                <a:solidFill>
                  <a:srgbClr val="F2EEE6"/>
                </a:solidFill>
                <a:latin typeface="Segoe UI Emoji"/>
                <a:ea typeface="Segoe UI Emoji"/>
                <a:cs typeface="Segoe UI Emoji"/>
              </a:rPr>
              <a:t>🐟</a:t>
            </a:r>
            <a:r>
              <a:rPr sz="1875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呆呆脑    孙楠</a:t>
            </a:r>
          </a:p>
        </p:txBody>
      </p:sp>
    </p:spTree>
    <p:extLst>
      <p:ext uri="{BB962C8B-B14F-4D97-AF65-F5344CB8AC3E}">
        <p14:creationId xmlns:p14="http://schemas.microsoft.com/office/powerpoint/2010/main" val="1358959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st">
            <a:extLst xmlns:a="http://schemas.openxmlformats.org/drawingml/2006/main">
              <a:ext uri="{FF2B5EF4-FFF2-40B4-BE49-F238E27FC236}">
                <a16:creationId xmlns:a16="http://schemas.microsoft.com/office/drawing/2014/main" id="{CADA49BC-CCAB-4524-A27E-653D595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rPr>
              <a:t>四年不能重来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30E2F3-B7BF-4CCE-BCF1-871EEE34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381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defPPr>
            <a:lvl1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1pPr>
            <a:lvl2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2pPr>
            <a:lvl3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3pPr>
            <a:lvl4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4pPr>
            <a:lvl5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5pPr>
            <a:lvl6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6pPr>
            <a:lvl7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7pPr>
            <a:lvl8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8pPr>
            <a:lvl9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pPr>
            <a:r>
              <a:rPr sz="5025" b="1">
                <a:solidFill>
                  <a:srgbClr val="F2EEE6"/>
                </a:solidFill>
                <a:latin typeface="SimSun"/>
                <a:ea typeface="SimSun"/>
                <a:cs typeface="SimSun"/>
              </a:rPr>
              <a:t>下一步，</a:t>
            </a:r>
          </a:p>
          <a:p xmlns:a="http://schemas.openxmlformats.org/drawingml/2006/main">
            <a:pPr algn="l">
              <a:buNone/>
              <a:defRPr sz="5025" b="1">
                <a:solidFill>
                  <a:srgbClr val="F2EEE6"/>
                </a:solidFill>
                <a:latin typeface="SimSun"/>
                <a:ea typeface="SimSun"/>
                <a:cs typeface="SimSun"/>
              </a:defRPr>
            </a:pPr>
            <a:r>
              <a:rPr sz="5025" b="1">
                <a:solidFill>
                  <a:srgbClr val="F2EEE6"/>
                </a:solidFill>
                <a:latin typeface="SimSun"/>
                <a:ea typeface="SimSun"/>
                <a:cs typeface="SimSun"/>
              </a:rPr>
              <a:t>仍然可以选择</a:t>
            </a:r>
          </a:p>
        </p:txBody>
      </p:sp>
      <p:sp>
        <p:nvSpPr>
          <p:cNvPr id="4" name="meaning">
            <a:extLst xmlns:a="http://schemas.openxmlformats.org/drawingml/2006/main">
              <a:ext uri="{FF2B5EF4-FFF2-40B4-BE49-F238E27FC236}">
                <a16:creationId xmlns:a16="http://schemas.microsoft.com/office/drawing/2014/main" id="{F35E31A0-8522-4B84-ADF2-F4A5F42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每个普通的今天，都有重新选择的可能</a:t>
            </a:r>
          </a:p>
        </p:txBody>
      </p:sp>
      <p:sp>
        <p:nvSpPr>
          <p:cNvPr id="5" name="sum">
            <a:extLst xmlns:a="http://schemas.openxmlformats.org/drawingml/2006/main">
              <a:ext uri="{FF2B5EF4-FFF2-40B4-BE49-F238E27FC236}">
                <a16:creationId xmlns:a16="http://schemas.microsoft.com/office/drawing/2014/main" id="{A85880BD-CE6F-442F-8355-20860AF1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CDB48A"/>
                </a:solidFill>
                <a:latin typeface="Microsoft YaHei"/>
                <a:ea typeface="Microsoft YaHei"/>
                <a:cs typeface="Microsoft YaHei"/>
              </a:rPr>
              <a:t>511＋513＝1024</a:t>
            </a:r>
          </a:p>
        </p:txBody>
      </p:sp>
      <p:sp>
        <p:nvSpPr>
          <p:cNvPr id="6" name="team">
            <a:extLst xmlns:a="http://schemas.openxmlformats.org/drawingml/2006/main">
              <a:ext uri="{FF2B5EF4-FFF2-40B4-BE49-F238E27FC236}">
                <a16:creationId xmlns:a16="http://schemas.microsoft.com/office/drawing/2014/main" id="{AA92ED2C-CAAA-42A8-8F0D-A19FF3CB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EEE6"/>
                </a:solidFill>
                <a:latin typeface="Microsoft YaHei"/>
                <a:ea typeface="Microsoft YaHei"/>
                <a:cs typeface="Microsoft YaHei"/>
              </a:rPr>
              <a:t>四个古风小生</a:t>
            </a:r>
          </a:p>
        </p:txBody>
      </p:sp>
      <p:sp>
        <p:nvSpPr>
          <p:cNvPr id="7" name="play">
            <a:extLst xmlns:a="http://schemas.openxmlformats.org/drawingml/2006/main">
              <a:ext uri="{FF2B5EF4-FFF2-40B4-BE49-F238E27FC236}">
                <a16:creationId xmlns:a16="http://schemas.microsoft.com/office/drawing/2014/main" id="{B6408E23-D3F8-49B1-B845-EB896200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53150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AEB9C1"/>
                </a:solidFill>
                <a:latin typeface="Microsoft YaHei"/>
                <a:ea typeface="Microsoft YaHei"/>
                <a:cs typeface="Microsoft YaHei"/>
              </a:defRPr>
            </a:pPr>
            <a:endParaRPr sz="1725" b="0">
              <a:solidFill>
                <a:srgbClr val="AEB9C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1BA7F44C-0C1D-45B0-872F-9A6945C8D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051290c0e4e36"/>
          <a:srcRect xmlns:a="http://schemas.openxmlformats.org/drawingml/2006/main" l="28000" t="0" r="27000" b="0"/>
          <a:stretch xmlns:a="http://schemas.openxmlformats.org/drawingml/2006/main"/>
        </p:blipFill>
        <p:spPr>
          <a:xfrm xmlns:a="http://schemas.openxmlformats.org/drawingml/2006/main">
            <a:off x="7486650" y="1047750"/>
            <a:ext cx="4133850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10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2026-10-26T10:53:09.3020000Z</dcterms:created>
  <dcterms:modified xsi:type="dcterms:W3CDTF">2026-10-26T10:53:09.3020000Z</dcterms:modified>
</coreProperties>
</file>